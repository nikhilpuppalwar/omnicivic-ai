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Pimpri Chinchwad College of Engineering (PCCoE)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Program Elective 4: Agentic AI Design (BCER27PE02)  |  FA1 Case Study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005840"/>
            <a:ext cx="54864" cy="4846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65408" y="1005840"/>
            <a:ext cx="54864" cy="4846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1143000"/>
            <a:ext cx="9811512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34440"/>
            <a:ext cx="9445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3B82F6"/>
                </a:solidFill>
              </a:rPr>
              <a:t>OmniCivic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9FAFB"/>
                </a:solidFill>
              </a:rPr>
              <a:t>Autonomous Civic Incident 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CA3AF"/>
                </a:solidFill>
              </a:rPr>
              <a:t>"Different complaints. One hidden signal."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2926080"/>
            <a:ext cx="7799831" cy="530352"/>
          </a:xfrm>
          <a:prstGeom prst="rect">
            <a:avLst/>
          </a:prstGeom>
          <a:solidFill>
            <a:srgbClr val="1D40A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999232"/>
            <a:ext cx="752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06B6D4"/>
                </a:solidFill>
              </a:rPr>
              <a:t>"Cities don't have a shortage of complaints. They have a shortage of intelligence connecting them."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675887"/>
            <a:ext cx="20574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712463"/>
            <a:ext cx="1911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Multi-Agent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4952" y="3675887"/>
            <a:ext cx="20574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3712463"/>
            <a:ext cx="1911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Geo-Clustering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1224" y="3675887"/>
            <a:ext cx="20574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6" y="3712463"/>
            <a:ext cx="1911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</a:rPr>
              <a:t>Root Cause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3675887"/>
            <a:ext cx="20574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3712463"/>
            <a:ext cx="1911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</a:rPr>
              <a:t>Impact Scoring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73767" y="3675887"/>
            <a:ext cx="2057400" cy="402336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3712463"/>
            <a:ext cx="19110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Anti-Fraud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3737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Academic Year 2026-27  |  TY B.Tech Division A  |  Semester I  |  Dr. Vinayak Malavade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The Crisis in Urban Civic Infrastructure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Problem Identification &amp;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2834640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335024"/>
            <a:ext cx="475488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33502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84708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F4444"/>
                </a:solidFill>
              </a:rPr>
              <a:t>Ticket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359152"/>
            <a:ext cx="26334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Citizens report symptoms independently — waterlogging, potholes, garbage — without knowing they share one root infrastructure failure. Each dept acts on its own isolated ticket.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207008"/>
            <a:ext cx="2834640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35024"/>
            <a:ext cx="475488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33502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84708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97316"/>
                </a:solidFill>
              </a:rPr>
              <a:t>Symptom-Only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59152"/>
            <a:ext cx="26334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Road dept patches potholes BEFORE Water Board fixes the leaking pipe. Road is re-destroyed within days. Taxpayer money wasted on repeated repairs of the same location.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1" y="1207008"/>
            <a:ext cx="2834640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1" y="1335024"/>
            <a:ext cx="475488" cy="40233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1" y="133502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1" y="184708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AB308"/>
                </a:solidFill>
              </a:rPr>
              <a:t>Volume vs. Risk Misalignment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1" y="2359152"/>
            <a:ext cx="26334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50 minor complaints override 2 critical reports of exposed live wires near a school. Traditional systems prioritize by complaint count — not actual public safety threat.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8863" y="1207008"/>
            <a:ext cx="2834640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0303" y="1335024"/>
            <a:ext cx="475488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3" y="133502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3" y="1847088"/>
            <a:ext cx="2633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A855F7"/>
                </a:solidFill>
              </a:rPr>
              <a:t>Fraudulent 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3" y="2359152"/>
            <a:ext cx="26334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CA3AF"/>
                </a:solidFill>
              </a:rPr>
              <a:t>Contractors submit 'Resolved' without verifiable GPS-tagged photo proof. Tickets close on paper while the infrastructure problem persists on the ground.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6455664"/>
            <a:ext cx="11786616" cy="347472"/>
          </a:xfrm>
          <a:prstGeom prst="rect">
            <a:avLst/>
          </a:prstGeom>
          <a:solidFill>
            <a:srgbClr val="1D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OmniCivic AI solves all 4 problems with a single autonomous multi-agent intelligence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OmniCivic AI — Autonomous 7-Stage Multi-Agent Intelligence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5394960" cy="53492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What OmniCivic AI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5102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Correlates multiple independent reports by GPS proximity (&lt; 180m) and time window (&lt; 7 days) into unified incident clusters — no external GIS library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42032"/>
            <a:ext cx="5102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Traces cascading root-cause failure chains using a civic dependency knowledge graph — identifies the hidden infrastructure origin, not just surface symptoms.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55264"/>
            <a:ext cx="5102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Scores actual public threat using a weighted 6-factor formula (0-100 scale) — overrides complaint volume bias with scientific priority calculation.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968496"/>
            <a:ext cx="5102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Generates sequenced multi-department work orders using topological sort — Water Board first, Roads last, preventing re-repair loops.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681728"/>
            <a:ext cx="5102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Verifies resolution proof with dual Haversine GPS check (&lt; 100m) + visual category matching — blocks fraudulent ticket closure.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394960"/>
            <a:ext cx="51023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Monitors SLA deadlines per priority tier and auto-escalates critical incidents to senior management with detailed breach alerts.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207008"/>
            <a:ext cx="6217920" cy="53492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33502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</a:rPr>
              <a:t>7-Stage Agent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347472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82880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847088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Perception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05740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Image + text analysis: issue type, severity,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223113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    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450592"/>
            <a:ext cx="347472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450592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2468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</a:rPr>
              <a:t>Clustering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267919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Haversine distance &lt; 180m + 7-day time window grouping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85292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    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072384"/>
            <a:ext cx="347472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072384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090672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366F1"/>
                </a:solidFill>
              </a:rPr>
              <a:t>Incident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30098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Rules: INDEPENDENT / DUPLICATE / CONNECTED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347472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    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694176"/>
            <a:ext cx="347472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3694176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3712463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</a:rPr>
              <a:t>Root-Cause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922776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Causal graph walk + LLM cascade hypothesis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6752" y="409651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   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315968"/>
            <a:ext cx="347472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4315968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4334255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</a:rPr>
              <a:t>Civic Impact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4544568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6-factor weighted score → CRITICAL/HIGH/MEDIUM/LOW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471830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    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937759"/>
            <a:ext cx="347472" cy="40233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4937759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4956047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</a:rPr>
              <a:t>Response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166359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Topological dept sort → sequenced work orders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5340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</a:rPr>
              <a:t>    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5559551"/>
            <a:ext cx="347472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5559551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FAFB"/>
                </a:solidFill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557783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Filing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5788151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Generate FILE-INC_ID municipal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Multi-Agent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10 Specialized Agents — Coordinated by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Technical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20700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207008"/>
            <a:ext cx="2267712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61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261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0992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Gemini Multimodal / Lookup Table — issue type, severity,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20700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78608" y="1207008"/>
            <a:ext cx="2267712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261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261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170992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Haversine distance &lt; 180m + 7-day time window grouping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20700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4336" y="1207008"/>
            <a:ext cx="2267712" cy="4023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261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Incident 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1261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170992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Rule engine: INDEPENDENT / DUPLICATE / CONNECTED 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0064" y="120700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0064" y="1207008"/>
            <a:ext cx="2267712" cy="4023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1261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Root-Cause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261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170992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Graph traversal on civic_dependencies.json + LLM narrative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65792" y="120700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65792" y="1207008"/>
            <a:ext cx="2267712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1261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Civic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8872" y="12618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170992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6-factor weighted score → CRITICAL / HIGH / MEDIUM / 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90448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3904488"/>
            <a:ext cx="2267712" cy="40233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39593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40740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Topological dept sort on departments.json → sequenced work orders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8608" y="390448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78608" y="3904488"/>
            <a:ext cx="2267712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0048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Filing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9593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440740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Generate simulated FILE-[INC_ID] traceable municipal records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74336" y="390448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74336" y="3904488"/>
            <a:ext cx="2267712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65776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Escalation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7416" y="39593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Escalate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65776" y="440740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SLA state machine + demo time-travel trigger (+72h advance)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70064" y="390448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70064" y="3904488"/>
            <a:ext cx="2267712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61504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Verification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53144" y="39593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Verify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61504" y="440740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Haversine GPS &lt; 100m + visual category match → RESOLVED/REOPEN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65792" y="3904488"/>
            <a:ext cx="2267712" cy="2487168"/>
          </a:xfrm>
          <a:prstGeom prst="rect">
            <a:avLst/>
          </a:prstGeom>
          <a:solidFill>
            <a:srgbClr val="111827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65792" y="3904488"/>
            <a:ext cx="2267712" cy="4023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57232" y="3959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FAFB"/>
                </a:solidFill>
              </a:rPr>
              <a:t>Orchestrator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48872" y="39593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9FAFB"/>
                </a:solidFill>
              </a:rPr>
              <a:t>Coord.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57232" y="4407408"/>
            <a:ext cx="20848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Pipeline coordinator: writes incidents.json + agent_logs.json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Live Case Study — Scenario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Chakala Junction, Andheri East  |  INC-2026-001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Root Cause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5230368" cy="5349240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4864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Incident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37360"/>
            <a:ext cx="4864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Trigger: CIV-2026-1001 — Major water leak from underground pipe near Chakala Junction, Andheri East.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331720"/>
            <a:ext cx="4864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Cluster: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33472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6 independent reports clustered into 1 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26079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Radius: 150 metres  |  Time window: 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18687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Classification: HIGH_CONFIDENCE_CONNECTED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511295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  Filing Code: FILE-INC-2026-001  |  Confidence: 88%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931920"/>
            <a:ext cx="4864608" cy="594360"/>
          </a:xfrm>
          <a:prstGeom prst="rect">
            <a:avLst/>
          </a:prstGeom>
          <a:solidFill>
            <a:srgbClr val="1D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005072"/>
            <a:ext cx="46817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</a:rPr>
              <a:t>88 / 100 — CRITICAL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572000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Factors: Severity 30%  |  Proximity 20%  |  People 15%  |  Duration 10%  |  Repeats 10%  |  Risk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937760"/>
            <a:ext cx="4864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</a:rPr>
              <a:t>Departments Dispatched (Topological Order):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5266944"/>
            <a:ext cx="1572768" cy="347472"/>
          </a:xfrm>
          <a:prstGeom prst="rect">
            <a:avLst/>
          </a:prstGeom>
          <a:solidFill>
            <a:srgbClr val="06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530352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1. WATER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48256" y="5266944"/>
            <a:ext cx="1572768" cy="347472"/>
          </a:xfrm>
          <a:prstGeom prst="rect">
            <a:avLst/>
          </a:prstGeom>
          <a:solidFill>
            <a:srgbClr val="0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93976" y="530352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2. DRAINAGE DEPT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12464" y="5266944"/>
            <a:ext cx="1572768" cy="347472"/>
          </a:xfrm>
          <a:prstGeom prst="rect">
            <a:avLst/>
          </a:prstGeom>
          <a:solidFill>
            <a:srgbClr val="2C1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8184" y="530352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3. ROADS DEPT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1207008"/>
            <a:ext cx="6336792" cy="53492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133502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Root Cause Cascade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171907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AI-generated hypothesis  |  Physical inspection recommended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121408"/>
            <a:ext cx="5943600" cy="914400"/>
          </a:xfrm>
          <a:prstGeom prst="rect">
            <a:avLst/>
          </a:prstGeom>
          <a:solidFill>
            <a:srgbClr val="0E14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21284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WATER LEAKAGE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542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Underground pipe burst at Chakala Junction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017520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         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236976"/>
            <a:ext cx="5943600" cy="914400"/>
          </a:xfrm>
          <a:prstGeom prst="rect">
            <a:avLst/>
          </a:prstGeom>
          <a:solidFill>
            <a:srgbClr val="0E14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332841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ROAD DAMAGE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6576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Water seepage erodes road sub-base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13308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         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4352544"/>
            <a:ext cx="5943600" cy="914400"/>
          </a:xfrm>
          <a:prstGeom prst="rect">
            <a:avLst/>
          </a:prstGeom>
          <a:solidFill>
            <a:srgbClr val="0E1426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4443983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</a:rPr>
              <a:t>POTHOLE FORMED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7731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Traffic loads crack weakened surface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5248656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         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5468112"/>
            <a:ext cx="5943600" cy="914400"/>
          </a:xfrm>
          <a:prstGeom prst="rect">
            <a:avLst/>
          </a:prstGeom>
          <a:solidFill>
            <a:srgbClr val="0E14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5559551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WATERLOGGING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588873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Potholes trap rainwater — road floods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Core Algorithms &amp; Mathematical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Precision Engineering Behind the Intelligence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Application of Theory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3749039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350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Haversine Geo-Clustering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37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Algorithm 1  — Spatial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0848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</a:rPr>
              <a:t>delta_phi = (lat2 - lat1) * pi / 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359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</a:rPr>
              <a:t>delta_lam = (lon2 - lon1) * pi / 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63347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9077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</a:rPr>
              <a:t>a = sin^2(delta_phi/2)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18211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    + cos(lat1)*cos(lat2)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456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    * sin^2(delta_lam/2)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7307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00507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</a:rPr>
              <a:t>c = 2 * atan2(sqrt(a), sqrt(1-a))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2793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</a:rPr>
              <a:t>d = R * c    [R = 6,371,000 m]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681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Threshold: d &lt;= 180 m  AND  delta_t &lt;= 7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Groups related reports into ONE incident cluster — no external GIS library required.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207008"/>
            <a:ext cx="4005072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1104" y="133502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Civic Impact Score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17373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Algorithm 2  — Multi-Factor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084831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S = Weighted sum of 6 factors (0-100):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2432304"/>
            <a:ext cx="3749039" cy="347472"/>
          </a:xfrm>
          <a:prstGeom prst="rect">
            <a:avLst/>
          </a:prstGeom>
          <a:solidFill>
            <a:srgbClr val="1A1E2E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24780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Issue Severity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47802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</a:rPr>
              <a:t>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2816352"/>
            <a:ext cx="3749039" cy="347472"/>
          </a:xfrm>
          <a:prstGeom prst="rect">
            <a:avLst/>
          </a:prstGeom>
          <a:solidFill>
            <a:srgbClr val="1A1E2E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2862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Infra Proximity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8620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7316"/>
                </a:solidFill>
              </a:rPr>
              <a:t>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61104" y="3200400"/>
            <a:ext cx="3749039" cy="347472"/>
          </a:xfrm>
          <a:prstGeom prst="rect">
            <a:avLst/>
          </a:prstGeom>
          <a:solidFill>
            <a:srgbClr val="1A1E2E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3246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People Affected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24612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AB308"/>
                </a:solidFill>
              </a:rPr>
              <a:t>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1104" y="3584448"/>
            <a:ext cx="3749039" cy="347472"/>
          </a:xfrm>
          <a:prstGeom prst="rect">
            <a:avLst/>
          </a:prstGeom>
          <a:solidFill>
            <a:srgbClr val="1A1E2E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3630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Issue 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6301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B6D4"/>
                </a:solidFill>
              </a:rPr>
              <a:t>10%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3968496"/>
            <a:ext cx="3749039" cy="347472"/>
          </a:xfrm>
          <a:prstGeom prst="rect">
            <a:avLst/>
          </a:prstGeom>
          <a:solidFill>
            <a:srgbClr val="1A1E2E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2544" y="401421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Repeat Complaints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014215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B82F6"/>
                </a:solidFill>
              </a:rPr>
              <a:t>10%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1104" y="4352544"/>
            <a:ext cx="3749039" cy="347472"/>
          </a:xfrm>
          <a:prstGeom prst="rect">
            <a:avLst/>
          </a:prstGeom>
          <a:solidFill>
            <a:srgbClr val="1A1E2E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2544" y="43982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Secondary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39826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855F7"/>
                </a:solidFill>
              </a:rPr>
              <a:t>15%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4754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</a:rPr>
              <a:t>Priority Thresholds: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1104" y="5074920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</a:rPr>
              <a:t>&gt;=80 CRITICAL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48656" y="5074920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97316"/>
                </a:solidFill>
              </a:rPr>
              <a:t>65-79 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5074920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B308"/>
                </a:solidFill>
              </a:rPr>
              <a:t>45-64 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5074920"/>
            <a:ext cx="932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</a:rPr>
              <a:t>&lt;45 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02752" y="1207008"/>
            <a:ext cx="3657600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49056" y="133502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Topological Dept Sequencing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9056" y="1737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Algorithm 3  — Kahn's BFS Topological Sort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20848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FAFB"/>
                </a:solidFill>
              </a:rPr>
              <a:t>Execution order by in-degree on dept dependency graph: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49056" y="2523744"/>
            <a:ext cx="3383280" cy="822960"/>
          </a:xfrm>
          <a:prstGeom prst="rect">
            <a:avLst/>
          </a:prstGeom>
          <a:solidFill>
            <a:srgbClr val="0E16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257860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Step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25712" y="2578608"/>
            <a:ext cx="2633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WATER BOARD
(In-degree = 0)
FIRST — fix root leak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32841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         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49056" y="3566159"/>
            <a:ext cx="3383280" cy="822960"/>
          </a:xfrm>
          <a:prstGeom prst="rect">
            <a:avLst/>
          </a:prstGeom>
          <a:solidFill>
            <a:srgbClr val="0E162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0" y="3621023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Step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25712" y="3621023"/>
            <a:ext cx="2633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STORM WATER DRAINAGE
(Depends on: Water Board)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37083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</a:rPr>
              <a:t>         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49056" y="4608575"/>
            <a:ext cx="3383280" cy="822960"/>
          </a:xfrm>
          <a:prstGeom prst="rect">
            <a:avLst/>
          </a:prstGeom>
          <a:solidFill>
            <a:srgbClr val="0E16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0" y="466343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Step 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4663439"/>
            <a:ext cx="2633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ROADS DEPT
(Depends on: Water Board
+ Drainage) — LAST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49056" y="5193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Prevents roads dept from paving over active water leaks — stops expensive re-repair loops.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Full-Stack Agentic AI System — Production-Grade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Technical 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2871216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33502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77393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Python 3.10+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77393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Core language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122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FastAPI 0.115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11226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ASGI REST API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24505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Uvicorn 0.34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505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ASGI server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27889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Pydantic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Data validation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3127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Pillow &gt;=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12724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Image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34655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Fernet AES-128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6557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API key encryption at 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" y="38039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asyncio +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80390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Concurrent config writes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" y="4142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python-dotenv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1422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Env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1207008"/>
            <a:ext cx="2871216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133502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AI /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177393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Google Gemini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177393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Multimodal image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21122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Anthropic Claude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11226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Advanced reasoning/tools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8416" y="24505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Groq Cloud (LPU)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4505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Ultra-fast 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27889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OpenAI GPT-4o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Tool calling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8416" y="3127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Hugging 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12724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Open-weights routing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8416" y="34655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OpenRouter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46557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Multi-model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28416" y="38039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Ollama / Local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80390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Self-hosted inference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8416" y="4142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Deterministic 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1422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100% offline stability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6208" y="1207008"/>
            <a:ext cx="2871216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133502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Frontend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177393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React 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177393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Component UI framework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21122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TypeScript ~6.0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211226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Type-safe development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45936" y="24505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Vite 8.1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24505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Ultra-fast bundler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45936" y="27889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Vanilla CSS tokens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Custom design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3127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Recharts 3.9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12724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Data visualization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5936" y="34655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lucide-react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346557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Premium icon library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45936" y="38039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react-router-dom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80390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SPA navigation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4142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Glassmorphism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1422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Premium dark aesthetic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53728" y="1207008"/>
            <a:ext cx="2871216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0888" y="1335024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Data &amp; APIs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3456" y="177393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complaints.json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177393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Report persistence store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63456" y="211226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incidents.json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0" y="211226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Incident context store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63456" y="24505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provider_configs.enc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245059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Encrypted config vault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63456" y="27889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civic_dependencies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278892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Causal knowledge graph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63456" y="31272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departments.json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3127248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Dept roles reference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63456" y="346557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agent_logs.json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0" y="3465576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Full audit trail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63456" y="3803904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Swagger / OpenAPI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72800" y="380390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Auto-generated API docs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63456" y="4142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  13 REST Routes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4142232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All documented endpoints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Live 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4 Test Cases — Each Proving a Distinct System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Demo &amp;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2852928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207008"/>
            <a:ext cx="2852928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243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Scenario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24358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FAFB"/>
                </a:solidFill>
              </a:rPr>
              <a:t>INC-2026-001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783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Water Infrastructure Cascade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19456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Water Leak -&gt; Road Damage -&gt; Pothole -&gt; Waterlogging
Chakala Junction, Andheri East, Ward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3520440"/>
            <a:ext cx="2670048" cy="36576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621024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Outcome: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931920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</a:rPr>
              <a:t>Score: 88/100 CRITICAL
6 reports clustered | 3 departments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1207008"/>
            <a:ext cx="2852928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18688" y="1207008"/>
            <a:ext cx="2852928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243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Scenario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24358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FAFB"/>
                </a:solidFill>
              </a:rPr>
              <a:t>INC-2026-002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1783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Drainage-Waste 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219456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Blocked Drain -&gt; Waterlogging -&gt; Garbage Accumulation
Kurla East, Ward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3520440"/>
            <a:ext cx="2670048" cy="36576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3621024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Outcome: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931920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7316"/>
                </a:solidFill>
              </a:rPr>
              <a:t>Score: 74/100 HIGH
4 reports | Drainage + Solid Waste Mgmt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8" y="1207008"/>
            <a:ext cx="2852928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1207008"/>
            <a:ext cx="2852928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243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Scenario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124358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FAFB"/>
                </a:solidFill>
              </a:rPr>
              <a:t>INC-2026-003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783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Electrical Safety Hazard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19456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Exposed Live Wires Near School — Only 2 Reports
Proves: Threat Score != Complaint 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3520440"/>
            <a:ext cx="2670048" cy="36576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621024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Outcome: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931920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855F7"/>
                </a:solidFill>
              </a:rPr>
              <a:t>Score: 91/100 CRITICAL
2 reports override 50 minor ones!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53728" y="1207008"/>
            <a:ext cx="2852928" cy="5349240"/>
          </a:xfrm>
          <a:prstGeom prst="rect">
            <a:avLst/>
          </a:prstGeom>
          <a:solidFill>
            <a:srgbClr val="111827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53728" y="1207008"/>
            <a:ext cx="2852928" cy="47548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124358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</a:rPr>
              <a:t>Scenario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124358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FAFB"/>
                </a:solidFill>
              </a:rPr>
              <a:t>INC-2026-004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178308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</a:rPr>
              <a:t>Recurring Repair Failure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219456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Poor quality road repair -&gt; Re-opened complaint
Hill Road, Bandra West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45168" y="3520440"/>
            <a:ext cx="2670048" cy="36576"/>
          </a:xfrm>
          <a:prstGeom prst="rect">
            <a:avLst/>
          </a:prstGeom>
          <a:solidFill>
            <a:srgbClr val="2A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8" y="3621024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Outcome: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3931920"/>
            <a:ext cx="267004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B308"/>
                </a:solidFill>
              </a:rPr>
              <a:t>Tests REOPENED state + Anti-fraud
Verification failure demonstration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6455664"/>
            <a:ext cx="11786616" cy="347472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</a:rPr>
              <a:t>All scenarios are pre-seeded and reproducible. Full reset available via POST /dev/reset-demo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Key Feature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Human-in-the-Loop Approval + Anti-Fraud Verification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Feature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5669280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Human-in-the-Loop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828800"/>
            <a:ext cx="5303520" cy="749808"/>
          </a:xfrm>
          <a:prstGeom prst="rect">
            <a:avLst/>
          </a:prstGeom>
          <a:solidFill>
            <a:srgbClr val="0E16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-&gt; AI Analysis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311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7-stage pipeline generates full response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706624"/>
            <a:ext cx="5303520" cy="749808"/>
          </a:xfrm>
          <a:prstGeom prst="rect">
            <a:avLst/>
          </a:prstGeom>
          <a:solidFill>
            <a:srgbClr val="0E1628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980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B308"/>
                </a:solidFill>
              </a:rPr>
              <a:t>-&gt; PENDING Approval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System WAITS for authority officer sign-off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584448"/>
            <a:ext cx="5303520" cy="749808"/>
          </a:xfrm>
          <a:prstGeom prst="rect">
            <a:avLst/>
          </a:prstGeom>
          <a:solidFill>
            <a:srgbClr val="0E1628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67588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-&gt; Officer Reviews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986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Inspects sequenced dept work orders + rationale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462272"/>
            <a:ext cx="5303520" cy="749808"/>
          </a:xfrm>
          <a:prstGeom prst="rect">
            <a:avLst/>
          </a:prstGeom>
          <a:solidFill>
            <a:srgbClr val="0E16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5537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-&gt; Click: Approve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864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Status transitions to ACTION_IN_PROGRESS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5340096"/>
            <a:ext cx="5303520" cy="749808"/>
          </a:xfrm>
          <a:prstGeom prst="rect">
            <a:avLst/>
          </a:prstGeom>
          <a:solidFill>
            <a:srgbClr val="0E16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4315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-&gt; Departments Dispatched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5742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Teams receive work orders in correct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998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0B981"/>
                </a:solidFill>
              </a:rPr>
              <a:t>Ensures no AI decision deploys to field without human oversight and formal authorization.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207008"/>
            <a:ext cx="5925312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3350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Anti-Fraud Verification 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828800"/>
            <a:ext cx="5577840" cy="1170432"/>
          </a:xfrm>
          <a:prstGeom prst="rect">
            <a:avLst/>
          </a:prstGeom>
          <a:solidFill>
            <a:srgbClr val="1E080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8836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Check 1: GPS Haversine Proximity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2128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After-photo GPS must be within 100 metres of the original complaint location (Haversine formula).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6974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7316"/>
                </a:solidFill>
              </a:rPr>
              <a:t>FAIL -&gt; LOCATION_MISMATCH | ticket stays open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108960"/>
            <a:ext cx="5577840" cy="1170432"/>
          </a:xfrm>
          <a:prstGeom prst="rect">
            <a:avLst/>
          </a:prstGeom>
          <a:solidFill>
            <a:srgbClr val="1C1604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1638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B308"/>
                </a:solidFill>
              </a:rPr>
              <a:t>Check 2: Visual Category 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93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After-photo issue type must match original complaint category — no fake image substitution allowed.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77639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97316"/>
                </a:solidFill>
              </a:rPr>
              <a:t>FAIL -&gt; REOPENED | requires re-inspection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370832"/>
            <a:ext cx="5577840" cy="914400"/>
          </a:xfrm>
          <a:prstGeom prst="rect">
            <a:avLst/>
          </a:prstGeom>
          <a:solidFill>
            <a:srgbClr val="04180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256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BOTH CHECKS PASS: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3659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Status -&gt; RESOLVED | Impact drops to LOW | Audit trail logged with evidence + timestamp.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4132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EAB308"/>
                </a:solidFill>
              </a:rPr>
              <a:t>Demo: Submit wrong photo -&gt; MISMATCH | Submit correct photo -&gt; RESOLVED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LLM Integration &amp; Dual-Mode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7 LLM Providers + 100% Stable Offline Fallback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AI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5029200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7 LLM Providers Supported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828800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Google Gemini 2.0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21408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Multimodal image +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432304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780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Anthropic Claude Sonnet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Advanced reasoning + tool calls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035808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81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Groq Cloud (LPU)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28416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Ultra-fast Llama 3.3 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39312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850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OpenAI GPT-4o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Industry benchmark, tool calling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242816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88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</a:rPr>
              <a:t>Hugging 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35424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Open-weights routing, custom 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846320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OpenRouter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38928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Multi-model unified gateway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5449824"/>
            <a:ext cx="4663440" cy="530352"/>
          </a:xfrm>
          <a:prstGeom prst="rect">
            <a:avLst/>
          </a:prstGeom>
          <a:solidFill>
            <a:srgbClr val="101828"/>
          </a:solidFill>
          <a:ln w="1016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955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Ollama /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4243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</a:rPr>
              <a:t>Self-hosted offline inference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1207008"/>
            <a:ext cx="6473952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1335024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Dual-Mode Fallback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173736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100% functional with NO API key — zero demo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084831"/>
            <a:ext cx="6035040" cy="347472"/>
          </a:xfrm>
          <a:prstGeom prst="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FAFB"/>
                </a:solidFill>
              </a:rPr>
              <a:t>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1031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Live Mode (API Key Set)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B308"/>
                </a:solidFill>
              </a:rPr>
              <a:t>Offline Fallback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0" y="2487168"/>
            <a:ext cx="6035040" cy="804672"/>
          </a:xfrm>
          <a:prstGeom prst="rect">
            <a:avLst/>
          </a:prstGeom>
          <a:solidFill>
            <a:srgbClr val="0E1626"/>
          </a:solidFill>
          <a:ln w="635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256032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Perception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56032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</a:rPr>
              <a:t>OK  Gemini Multimodal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56032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AB308"/>
                </a:solidFill>
              </a:rPr>
              <a:t>ALT Deterministic Lookup Table
(perception_lookup.json)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383280"/>
            <a:ext cx="6035040" cy="804672"/>
          </a:xfrm>
          <a:prstGeom prst="rect">
            <a:avLst/>
          </a:prstGeom>
          <a:solidFill>
            <a:srgbClr val="0E1626"/>
          </a:solidFill>
          <a:ln w="635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456432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Root-Cause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45643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</a:rPr>
              <a:t>OK  Claude LLM Narrative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34564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AB308"/>
                </a:solidFill>
              </a:rPr>
              <a:t>ALT Graph Knowledge Synthesis
(civic_dependencies.json)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4279392"/>
            <a:ext cx="6035040" cy="804672"/>
          </a:xfrm>
          <a:prstGeom prst="rect">
            <a:avLst/>
          </a:prstGeom>
          <a:solidFill>
            <a:srgbClr val="0E1626"/>
          </a:solidFill>
          <a:ln w="635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0" y="4352544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Impact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352544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</a:rPr>
              <a:t>OK  LLM Score Explanation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352544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AB308"/>
                </a:solidFill>
              </a:rPr>
              <a:t>ALT Weighted Formula Output
(pure Python math)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5175504"/>
            <a:ext cx="6035040" cy="804672"/>
          </a:xfrm>
          <a:prstGeom prst="rect">
            <a:avLst/>
          </a:prstGeom>
          <a:solidFill>
            <a:srgbClr val="0E1626"/>
          </a:solidFill>
          <a:ln w="6350">
            <a:solidFill>
              <a:srgbClr val="2A3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5248656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FAFB"/>
                </a:solidFill>
              </a:rPr>
              <a:t>Response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248656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</a:rPr>
              <a:t>OK  GPT-4o Plan Narrative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5248656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AB308"/>
                </a:solidFill>
              </a:rPr>
              <a:t>ALT Topological Sort Output
(departments.json)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5961888"/>
            <a:ext cx="6035040" cy="475488"/>
          </a:xfrm>
          <a:prstGeom prst="rect">
            <a:avLst/>
          </a:prstGeom>
          <a:solidFill>
            <a:srgbClr val="04140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5998464"/>
            <a:ext cx="5852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Zero Demo Risk: Pipeline always returns valid results regardless of API availability or rate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Incident State Machine &amp; REST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Deterministic State Transitions + 13 Documented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System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5230368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Incident Lifecycle State Machine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847088"/>
            <a:ext cx="2212848" cy="40233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47088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SUBMITTED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377440"/>
            <a:ext cx="2212848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7744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UNDER_REVIEW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907792"/>
            <a:ext cx="2212848" cy="4023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90779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ACTION_IN_PROGRESS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438144"/>
            <a:ext cx="2212848" cy="40233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38144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RESOLUTION_REVIEW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968496"/>
            <a:ext cx="2212848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968496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438144"/>
            <a:ext cx="2212848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438144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AWAITING_EVIDENCE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968496"/>
            <a:ext cx="2212848" cy="4023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3968496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REOPENED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377440"/>
            <a:ext cx="2212848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37744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9FAFB"/>
                </a:solidFill>
              </a:rPr>
              <a:t>ESCALATED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2951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Citizen submits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282549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Operator clicks Run Agentic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35584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Human approves response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8862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Field worker submits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4165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GPS &lt; 100m + visual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88620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GPS &gt; 100m mismatch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4165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Repair failed / re-report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282549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</a:rPr>
              <a:t>-&gt; SLA deadline breached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1207008"/>
            <a:ext cx="6336792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133502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REST API Endpoints (13 Routes)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1828800"/>
            <a:ext cx="5943600" cy="292608"/>
          </a:xfrm>
          <a:prstGeom prst="rect">
            <a:avLst/>
          </a:prstGeom>
          <a:solidFill>
            <a:srgbClr val="18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184708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9FAFB"/>
                </a:solidFill>
              </a:rPr>
              <a:t>Method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1847088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9FAFB"/>
                </a:solidFill>
              </a:rPr>
              <a:t>Endpoint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1847088"/>
            <a:ext cx="2523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9FAFB"/>
                </a:solidFill>
              </a:rPr>
              <a:t>Purpose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215798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2157984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/reports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215798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Submit citizen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244144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2441448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/reports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244144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List all reports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272491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55F7"/>
                </a:solidFill>
              </a:rP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2724912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/analyze/{id}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5168" y="2724912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Trigger 7-agent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3008376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3008376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/incidents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45168" y="3008376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List all incidents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329184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3291840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/incidents/{id}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5168" y="3291840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Get incident detail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0" y="357530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POST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56832" y="3575304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/incidents/{id}/approve-plan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3575304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Human HITL approval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60" y="385876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</a:rPr>
              <a:t>POST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6832" y="3858768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/incidents/{id}/resolution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45168" y="3858768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Submit resolution evidence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0" y="4142231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</a:rPr>
              <a:t>POST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6832" y="4142231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/incidents/{id}/verify-resolution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5168" y="4142231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Run Verification 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52160" y="4425695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POST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4425695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/incidents/{id}/advance-demo-time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45168" y="4425695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SLA time-travel (+72h)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52160" y="4709159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</a:rPr>
              <a:t>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6832" y="4709159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/agent-logs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45168" y="4709159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Full audit trail logs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4992623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56832" y="4992623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/dashboard/stats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5168" y="4992623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Aggregate metrics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52160" y="5276087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55F7"/>
                </a:solidFill>
              </a:rPr>
              <a:t>GET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6832" y="5276087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/api/settings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45168" y="5276087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LLM provider config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5559551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POST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56832" y="5559551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9FAFB"/>
                </a:solidFill>
              </a:rPr>
              <a:t>/dev/reset-demo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45168" y="5559551"/>
            <a:ext cx="2523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Reset demo to seed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System Outcomes &amp; Measurable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Quantified Performance Across All Evaluation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Results &amp;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3767328" cy="2542032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89888"/>
            <a:ext cx="34015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4444"/>
                </a:solidFill>
              </a:rPr>
              <a:t>88/100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3113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CRITICAL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700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Incident INC-2026-001
Chakala Water Cascade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07008"/>
            <a:ext cx="3767328" cy="2542032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89888"/>
            <a:ext cx="34015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855F7"/>
                </a:solidFill>
              </a:rPr>
              <a:t>91/100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3113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Priority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700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2-report wire hazard
beats 50+ minor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312" y="1207008"/>
            <a:ext cx="3767328" cy="2542032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389888"/>
            <a:ext cx="34015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B6D4"/>
                </a:solidFill>
              </a:rPr>
              <a:t>&lt;2.5s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3113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Pipeline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6700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Full offline analysis
in deterministic mode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3950208"/>
            <a:ext cx="3767328" cy="2542032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133088"/>
            <a:ext cx="34015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100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97433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GPS 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4132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Anti-fraud verification
location tolerance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950208"/>
            <a:ext cx="3767328" cy="2542032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133088"/>
            <a:ext cx="34015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97433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Reports Clustered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4132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Chakala scenario:
6 into 1 incident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3950208"/>
            <a:ext cx="3767328" cy="2542032"/>
          </a:xfrm>
          <a:prstGeom prst="rect">
            <a:avLst/>
          </a:prstGeom>
          <a:solidFill>
            <a:srgbClr val="111827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133088"/>
            <a:ext cx="34015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AB308"/>
                </a:solidFill>
              </a:rPr>
              <a:t>88%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974336"/>
            <a:ext cx="3401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FAFB"/>
                </a:solidFill>
              </a:rPr>
              <a:t>Confidence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5413248"/>
            <a:ext cx="34015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Root cause hypothesis
with AI disclaimer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6455664"/>
            <a:ext cx="11786616" cy="347472"/>
          </a:xfrm>
          <a:prstGeom prst="rect">
            <a:avLst/>
          </a:prstGeom>
          <a:solidFill>
            <a:srgbClr val="04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</a:rPr>
              <a:t>All 4 scenarios fully verified with reproducible seeded data — consistent across multiple demo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FAFB"/>
                </a:solidFill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OmniCivic AI — Transforming Reactive Municipal Operations into Proactive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646920" y="164592"/>
            <a:ext cx="23317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182880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9FAFB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15568"/>
            <a:ext cx="11640312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207008"/>
            <a:ext cx="5687568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Key Conclusions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828800"/>
            <a:ext cx="5321808" cy="1060704"/>
          </a:xfrm>
          <a:prstGeom prst="rect">
            <a:avLst/>
          </a:prstGeom>
          <a:solidFill>
            <a:srgbClr val="0C14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  Root-Cause Over Symptom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942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Correlating 6 reports across 150m identifies one underground pipe burst as root of road damage, potholes, and flooding — eliminating 3 separate repair cycles.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980944"/>
            <a:ext cx="5321808" cy="1060704"/>
          </a:xfrm>
          <a:prstGeom prst="rect">
            <a:avLst/>
          </a:prstGeom>
          <a:solidFill>
            <a:srgbClr val="0C1428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723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  Priority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2 reports of live wires near a school score 91/100 CRITICAL — overriding 50 trivial complaints. Scientific threat score replaces flawed complaint count metric.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4133087"/>
            <a:ext cx="5321808" cy="1060704"/>
          </a:xfrm>
          <a:prstGeom prst="rect">
            <a:avLst/>
          </a:prstGeom>
          <a:solidFill>
            <a:srgbClr val="0C14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  Fraud-Proof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5371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Dual-check GPS + visual matching prevents fake closure. Contractors cannot mark tickets resolved without legitimate geo-tagged photo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285231"/>
            <a:ext cx="5321808" cy="1060704"/>
          </a:xfrm>
          <a:prstGeom prst="rect">
            <a:avLst/>
          </a:prstGeom>
          <a:solidFill>
            <a:srgbClr val="0C1428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7667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  Production-Ready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05855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7 LLM providers with deterministic fallback ensures zero downtime. Fernet AES encryption protects API keys. AsyncIO prevents concurrent write conflicts.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1207008"/>
            <a:ext cx="5925312" cy="5349240"/>
          </a:xfrm>
          <a:prstGeom prst="rect">
            <a:avLst/>
          </a:prstGeom>
          <a:solidFill>
            <a:srgbClr val="111827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13350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Recommendations &amp; Future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8" y="1828800"/>
            <a:ext cx="5577840" cy="987552"/>
          </a:xfrm>
          <a:prstGeom prst="rect">
            <a:avLst/>
          </a:prstGeom>
          <a:solidFill>
            <a:srgbClr val="0C1428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01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B82F6"/>
                </a:solidFill>
              </a:rPr>
              <a:t>  Real-Time GPS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31136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Integrate Google Maps/OLA Maps API for live officer location tracking and automated proximity verification in the field.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907791"/>
            <a:ext cx="5577840" cy="987552"/>
          </a:xfrm>
          <a:prstGeom prst="rect">
            <a:avLst/>
          </a:prstGeom>
          <a:solidFill>
            <a:srgbClr val="0C1428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80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</a:rPr>
              <a:t>  Hindi / Regional Localization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10127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Add multilingual report submission and dashboard for non-English-speaking ward officers across Maharashtra districts.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3986783"/>
            <a:ext cx="5577840" cy="987552"/>
          </a:xfrm>
          <a:prstGeom prst="rect">
            <a:avLst/>
          </a:prstGeom>
          <a:solidFill>
            <a:srgbClr val="0C142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5993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</a:rPr>
              <a:t>  IoT Sensor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3891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Connect water pressure sensors, road strain gauges, and CCTV feeds for automated complaint generation without manual citizen input.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5065775"/>
            <a:ext cx="5577840" cy="987552"/>
          </a:xfrm>
          <a:prstGeom prst="rect">
            <a:avLst/>
          </a:prstGeom>
          <a:solidFill>
            <a:srgbClr val="0C1428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13892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97316"/>
                </a:solidFill>
              </a:rPr>
              <a:t>  Domain-Specific LLM Fine-Tuning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6811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Fine-tune on historical Mumbai civic incident data for higher accuracy root-cause hypotheses and better department classification.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6144767"/>
            <a:ext cx="5577840" cy="987552"/>
          </a:xfrm>
          <a:prstGeom prst="rect">
            <a:avLst/>
          </a:prstGeom>
          <a:solidFill>
            <a:srgbClr val="0C1428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62179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AB308"/>
                </a:solidFill>
              </a:rPr>
              <a:t>  Mobile Field Officer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547103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</a:rPr>
              <a:t>React Native app for field officers with automatic GPS metadata extraction from device camera for seamless evidence submission.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8895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914400"/>
            <a:ext cx="54864" cy="502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84280" y="914400"/>
            <a:ext cx="54864" cy="502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115568"/>
            <a:ext cx="9994392" cy="2029968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207008"/>
            <a:ext cx="96286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B82F6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9628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9FAFB"/>
                </a:solidFill>
              </a:rPr>
              <a:t>Questions &amp; Discussion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37560"/>
            <a:ext cx="9445752" cy="1481328"/>
          </a:xfrm>
          <a:prstGeom prst="rect">
            <a:avLst/>
          </a:prstGeom>
          <a:solidFill>
            <a:srgbClr val="0816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456432"/>
            <a:ext cx="9079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OmniCivic AI — Autonomous Civic Incident Intelligence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77056"/>
            <a:ext cx="9079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10 Specialized Agents  |  7 LLM Providers  |  3 Core Algorithms  |  13 REST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69663"/>
            <a:ext cx="9079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React 19 + TypeScript  |  FastAPI + Python  |  Fernet Encryption  |  100% Offline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35424"/>
            <a:ext cx="9079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B82F6"/>
                </a:solidFill>
              </a:rPr>
              <a:t>"Different complaints. One hidden signal."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21808"/>
            <a:ext cx="9079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BCER27PE02 — Agentic AI Design  |  PCCoE, Pimpri Chinchwad  |  TY B.Tech Division A  |  AY 2026-27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632704"/>
            <a:ext cx="9079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Course Coordinator: Dr. Vinayak Malavade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